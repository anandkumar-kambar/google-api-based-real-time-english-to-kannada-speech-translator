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86" r:id="rId5"/>
    <p:sldId id="260" r:id="rId6"/>
    <p:sldId id="279" r:id="rId7"/>
    <p:sldId id="265" r:id="rId8"/>
    <p:sldId id="266" r:id="rId9"/>
    <p:sldId id="268" r:id="rId10"/>
    <p:sldId id="27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5658F6-8A4D-49B7-B4B4-23B872C5BBF6}">
          <p14:sldIdLst>
            <p14:sldId id="256"/>
            <p14:sldId id="257"/>
            <p14:sldId id="258"/>
            <p14:sldId id="286"/>
          </p14:sldIdLst>
        </p14:section>
        <p14:section name="Untitled Section" id="{6BF81E22-E4E6-43BE-ABF4-B64AC711A6B0}">
          <p14:sldIdLst>
            <p14:sldId id="260"/>
            <p14:sldId id="279"/>
            <p14:sldId id="265"/>
            <p14:sldId id="266"/>
            <p14:sldId id="268"/>
            <p14:sldId id="27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sha Roogi" initials="AR" lastIdx="1" clrIdx="0">
    <p:extLst>
      <p:ext uri="{19B8F6BF-5375-455C-9EA6-DF929625EA0E}">
        <p15:presenceInfo xmlns:p15="http://schemas.microsoft.com/office/powerpoint/2012/main" userId="baa98370716e55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4B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072" autoAdjust="0"/>
  </p:normalViewPr>
  <p:slideViewPr>
    <p:cSldViewPr snapToGrid="0">
      <p:cViewPr varScale="1">
        <p:scale>
          <a:sx n="65" d="100"/>
          <a:sy n="65" d="100"/>
        </p:scale>
        <p:origin x="4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952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55211-2DB5-4129-9FB2-C7CAD4B72FF6}" type="datetimeFigureOut">
              <a:rPr lang="en-IN" smtClean="0"/>
              <a:t>03-01-2025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4118A-87E3-4A36-AD39-104E3606C3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832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4118A-87E3-4A36-AD39-104E3606C321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41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0BC04266-5C49-40F9-8C67-D10A6C90EC8C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47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1145-0B36-4CCC-A72B-5A248D42F01C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23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78E-0C35-4D4D-A716-F68D645EF8CE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59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E5CF-CBDF-4EAC-A290-9AA0339AA8F3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1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56DF-4D5E-4CD1-B2D3-8C9B111F76CD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30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14298-922A-46CC-AAF0-AF535AD07F39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22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03CE7-45C4-46AB-BB33-4920551186BA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75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E98DA-4DBF-4EFB-A592-F8CD3339C539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43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59F84-165B-43EE-8563-0451A0A0E375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22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C366-7D8E-48A1-8CB6-9F6A98AD820B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67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15195-EE1B-4AA8-8B9F-69393922D671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201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A18E-5E8E-49F2-BC24-3394E83B3152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811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CB91B-1513-45EA-B010-A7E17E90B6F6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54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92DA-4223-4DAD-84F9-AE74E2E97C00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435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EF65-D77E-441B-ADB0-D6F4918D3043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54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77C8-541E-42DA-B2C2-DEAC4EE35B5D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552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9F3F-C3CD-4E87-8D60-A467C1BD09F0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06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9E0D5B4-D52F-4E0E-898A-368341249A32}" type="datetime1">
              <a:rPr lang="en-IN" smtClean="0"/>
              <a:t>03-01-2025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8E7F8041-06C3-4A6A-9701-AEA0E210E17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48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7F29DD-D2B7-483A-8F40-3C2FE09AC7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58471" y="608119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chemeClr val="tx1"/>
                </a:solidFill>
                <a:latin typeface="Rockwell"/>
                <a:cs typeface="Calibri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 TECHNOLOGICAL UNIVERSITY –BELAGAVI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908BDA-81D0-4172-9168-EFAC1304351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58471" y="142892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B.V.V.SANGHA'S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8BFEB-5138-439B-9331-551F54F32EB4}"/>
              </a:ext>
            </a:extLst>
          </p:cNvPr>
          <p:cNvSpPr txBox="1"/>
          <p:nvPr/>
        </p:nvSpPr>
        <p:spPr>
          <a:xfrm>
            <a:off x="631978" y="1862483"/>
            <a:ext cx="110622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BILURU GURUBASAVA MAHASWAMIJI INSTITUTE OF TECHNOLOGY, MUDHOL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F509E-EC13-43C3-A1DD-8DD5E9CBD1DB}"/>
              </a:ext>
            </a:extLst>
          </p:cNvPr>
          <p:cNvSpPr txBox="1"/>
          <p:nvPr/>
        </p:nvSpPr>
        <p:spPr>
          <a:xfrm>
            <a:off x="1880079" y="2799311"/>
            <a:ext cx="8165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BD989C-5592-47A5-AE16-97AC7C0792E9}"/>
              </a:ext>
            </a:extLst>
          </p:cNvPr>
          <p:cNvSpPr txBox="1"/>
          <p:nvPr/>
        </p:nvSpPr>
        <p:spPr>
          <a:xfrm>
            <a:off x="3048000" y="33573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Project on</a:t>
            </a:r>
            <a:endParaRPr 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64D74AD-2531-48F4-A93D-5B0A7CE6D7FB}"/>
              </a:ext>
            </a:extLst>
          </p:cNvPr>
          <p:cNvSpPr/>
          <p:nvPr/>
        </p:nvSpPr>
        <p:spPr>
          <a:xfrm>
            <a:off x="2589090" y="3783391"/>
            <a:ext cx="6807966" cy="1031003"/>
          </a:xfrm>
          <a:prstGeom prst="flowChartAlternateProcess">
            <a:avLst/>
          </a:prstGeom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b="1" dirty="0">
                <a:solidFill>
                  <a:srgbClr val="006EC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800" b="1" dirty="0">
                <a:solidFill>
                  <a:srgbClr val="006EC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Google API-based Real-Time English to Kannada Voice Translator</a:t>
            </a:r>
            <a:r>
              <a:rPr lang="en-US" sz="2700" b="1" dirty="0">
                <a:solidFill>
                  <a:srgbClr val="006EC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”</a:t>
            </a:r>
            <a:endParaRPr kumimoji="0" lang="en-US" sz="2700" b="1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78344-AD38-463E-9476-2F380A9514AA}"/>
              </a:ext>
            </a:extLst>
          </p:cNvPr>
          <p:cNvSpPr txBox="1"/>
          <p:nvPr/>
        </p:nvSpPr>
        <p:spPr>
          <a:xfrm>
            <a:off x="622630" y="493603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 by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B117D1-9EFE-4A6B-8627-58F949B11F85}"/>
              </a:ext>
            </a:extLst>
          </p:cNvPr>
          <p:cNvSpPr txBox="1"/>
          <p:nvPr/>
        </p:nvSpPr>
        <p:spPr>
          <a:xfrm>
            <a:off x="8800469" y="48873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guidance of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27C7E-BE5B-4AF5-B3B3-23661C726481}"/>
              </a:ext>
            </a:extLst>
          </p:cNvPr>
          <p:cNvSpPr txBox="1"/>
          <p:nvPr/>
        </p:nvSpPr>
        <p:spPr>
          <a:xfrm>
            <a:off x="641308" y="5234612"/>
            <a:ext cx="6487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Anandkumar H .Kambar            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USN: 2LB22C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007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Noorunnahar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Patel 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USN: 2LB22C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035</a:t>
            </a:r>
            <a:endParaRPr lang="en-IN" sz="1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Ravindra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Ganiger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USN: 2LB22C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054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</a:p>
          <a:p>
            <a:r>
              <a:rPr lang="en-IN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Ompreet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.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Hadli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USN: 2LB22C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036</a:t>
            </a:r>
            <a:r>
              <a:rPr lang="en-IN" sz="1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CC86A-43E8-4F21-8678-AF43BA0F583C}"/>
              </a:ext>
            </a:extLst>
          </p:cNvPr>
          <p:cNvSpPr txBox="1"/>
          <p:nvPr/>
        </p:nvSpPr>
        <p:spPr>
          <a:xfrm>
            <a:off x="8530921" y="5187340"/>
            <a:ext cx="3098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Varun P.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Saravade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CSE BGMIT Mudhol-587313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29E31270-3742-4B16-9E3C-47DB42A1C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67" y="2798685"/>
            <a:ext cx="1630351" cy="14867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0D7FAF63-301F-42FD-AF7A-A3CF2A9CC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428" y="2798685"/>
            <a:ext cx="1815706" cy="14867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7ED7F0-7DB9-44E7-94E3-759479F1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60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D6F6-B653-4C19-8AFE-94477FE7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808C2-998F-4A6E-8B82-85DA6468F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23127"/>
            <a:ext cx="8761412" cy="409170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73C7-2115-441E-AE83-BEAD3250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2</a:t>
            </a:fld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496A20-91A8-856E-AA83-D043AF33C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285" y="2398597"/>
            <a:ext cx="8096975" cy="43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B5B1F8F-05A6-23BB-F42E-4A023D3BD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524" y="2165927"/>
            <a:ext cx="795659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43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0"/>
    </mc:Choice>
    <mc:Fallback xmlns="">
      <p:transition spd="slow" advTm="7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0F54-CA0E-42C2-936E-509FD0F2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261" y="973668"/>
            <a:ext cx="8915105" cy="70696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D6DB-7BFA-498F-B67F-E0DB78DA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00" y="2581741"/>
            <a:ext cx="10172272" cy="398053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To develop a real-time speech-to-speech translation system that bridges communication gaps between different languages.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Combines speech recognition, language translation, and text-to-speech for seamless interaction.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Designed to simplify communication in scenarios like travel, education, customer support, and healthcare.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functional prototype showcasing real-time English to Kannada   translation for practical use cases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F763D-32F8-48E1-B386-88349FF9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2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19E3971-D676-AAC6-CCD3-5F98F21C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86890-5CCD-815D-B61E-CC945F56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4</a:t>
            </a:fld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D843A6-7E5D-6725-4866-B13C0BE27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804384"/>
              </p:ext>
            </p:extLst>
          </p:nvPr>
        </p:nvGraphicFramePr>
        <p:xfrm>
          <a:off x="515007" y="1876097"/>
          <a:ext cx="11161985" cy="480427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53572">
                  <a:extLst>
                    <a:ext uri="{9D8B030D-6E8A-4147-A177-3AD203B41FA5}">
                      <a16:colId xmlns:a16="http://schemas.microsoft.com/office/drawing/2014/main" val="3301505407"/>
                    </a:ext>
                  </a:extLst>
                </a:gridCol>
                <a:gridCol w="2402511">
                  <a:extLst>
                    <a:ext uri="{9D8B030D-6E8A-4147-A177-3AD203B41FA5}">
                      <a16:colId xmlns:a16="http://schemas.microsoft.com/office/drawing/2014/main" val="2233953147"/>
                    </a:ext>
                  </a:extLst>
                </a:gridCol>
                <a:gridCol w="3405350">
                  <a:extLst>
                    <a:ext uri="{9D8B030D-6E8A-4147-A177-3AD203B41FA5}">
                      <a16:colId xmlns:a16="http://schemas.microsoft.com/office/drawing/2014/main" val="2315580196"/>
                    </a:ext>
                  </a:extLst>
                </a:gridCol>
                <a:gridCol w="3100552">
                  <a:extLst>
                    <a:ext uri="{9D8B030D-6E8A-4147-A177-3AD203B41FA5}">
                      <a16:colId xmlns:a16="http://schemas.microsoft.com/office/drawing/2014/main" val="1285682429"/>
                    </a:ext>
                  </a:extLst>
                </a:gridCol>
              </a:tblGrid>
              <a:tr h="592736">
                <a:tc>
                  <a:txBody>
                    <a:bodyPr/>
                    <a:lstStyle/>
                    <a:p>
                      <a:r>
                        <a:rPr lang="en-US" sz="3200" b="0" dirty="0"/>
                        <a:t>Author</a:t>
                      </a:r>
                      <a:endParaRPr lang="en-IN" sz="3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Title</a:t>
                      </a:r>
                      <a:endParaRPr lang="en-IN" sz="3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dirty="0"/>
                        <a:t>Methodology</a:t>
                      </a:r>
                      <a:endParaRPr lang="en-IN" sz="3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/>
                        <a:t>Result</a:t>
                      </a:r>
                      <a:endParaRPr lang="en-IN" sz="3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420042"/>
                  </a:ext>
                </a:extLst>
              </a:tr>
              <a:tr h="1341455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Sagar Patil, Mayuri </a:t>
                      </a: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Phonde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Siddharth Prajapati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Multilingual Speech and Text Recognition and Translation using Image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to speech, speech to text, image extraction and language translator modules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system don’t have to use dictionary for understanding the meaning of word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715638"/>
                  </a:ext>
                </a:extLst>
              </a:tr>
              <a:tr h="143504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Venkateswarlu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D. B. K. Kamesh, J. K. R. Sastry and Radhika Rani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deep learning approaches in text-to-speech system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to speech and voice processing modules</a:t>
                      </a:r>
                    </a:p>
                    <a:p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 is extracted from the image and converted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audio</a:t>
                      </a:r>
                    </a:p>
                    <a:p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29067"/>
                  </a:ext>
                </a:extLst>
              </a:tr>
              <a:tr h="1435044"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Sireesh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Haang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Limbu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Speech to Speech Translation Using Machine Learning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Encoder-Decoder, Sequence to Sequence Modelling, LSTM Neural Networks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procured using the ’Opus’ parallel text corpus that have been converted to audio using Google  TTS API</a:t>
                      </a:r>
                      <a:r>
                        <a:rPr lang="en-US" sz="3200" dirty="0"/>
                        <a:t>.</a:t>
                      </a:r>
                      <a:endParaRPr lang="en-IN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72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90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73E77-767C-4C56-994D-6B9447F1A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100" y="2196618"/>
            <a:ext cx="9056203" cy="436565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 marL="784225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3.7+</a:t>
            </a:r>
          </a:p>
          <a:p>
            <a:pPr marL="784225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speech_recognition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gtts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platform,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deep_translator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4225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API: Google Speech Recognition API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Requirements:</a:t>
            </a:r>
          </a:p>
          <a:p>
            <a:pPr marL="784225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Microphone (for voice input)</a:t>
            </a:r>
          </a:p>
          <a:p>
            <a:pPr marL="784225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Speakers/Headphones (for audio output)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0A5-7968-4725-9E45-75C1BC67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5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DBDC3-AB5B-457D-8BD6-1D42A619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</p:spTree>
    <p:extLst>
      <p:ext uri="{BB962C8B-B14F-4D97-AF65-F5344CB8AC3E}">
        <p14:creationId xmlns:p14="http://schemas.microsoft.com/office/powerpoint/2010/main" val="29294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0"/>
    </mc:Choice>
    <mc:Fallback xmlns="">
      <p:transition spd="slow" advTm="7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06BA-2307-AAEE-7F2A-8F5E1B20C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063416"/>
            <a:ext cx="8761413" cy="7069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8ABA8F-F083-9288-84DD-6CD453586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speech recognizers and select the appropriate  microphone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User Command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Conversion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 Text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Conversion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 Audio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Errors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F1F2B-816D-4E4D-0C21-4870D2DD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77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B4B1-DC96-4DC6-A52F-DA050A31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380592"/>
            <a:ext cx="9344881" cy="4351283"/>
          </a:xfrm>
        </p:spPr>
        <p:txBody>
          <a:bodyPr>
            <a:normAutofit fontScale="85000" lnSpcReduction="2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translation.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Supports both English and Kannada.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User-friendly voice commands.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Limitations:</a:t>
            </a:r>
            <a:endParaRPr lang="en-US" sz="3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Internet-dependent for APIs.</a:t>
            </a: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affected by background noise and pronunciation.</a:t>
            </a: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to languages supported by the APIs.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3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64BF6-31C4-42B0-8B39-3913476C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7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E2CB6-6000-43C2-BB4D-E9342939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196" y="942137"/>
            <a:ext cx="8761413" cy="70696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883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62DC-B4DD-41E1-B0DB-762C45920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423" y="2964837"/>
            <a:ext cx="9574117" cy="326635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Travel Translator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for the Hearing-Impaired</a:t>
            </a: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E-Commerce Assistant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Translation for Conferences and Meetings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Cross-Language Voice Assistant</a:t>
            </a: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C1107-0A02-43DC-A69C-FF28926D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8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DBC82-B801-46B5-8046-CCDF9C9F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</p:txBody>
      </p:sp>
    </p:spTree>
    <p:extLst>
      <p:ext uri="{BB962C8B-B14F-4D97-AF65-F5344CB8AC3E}">
        <p14:creationId xmlns:p14="http://schemas.microsoft.com/office/powerpoint/2010/main" val="336686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7EBA-0DEF-4925-B881-263D5AA4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4B529-2DCB-4677-B969-6A86353C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3094479"/>
            <a:ext cx="9566994" cy="278985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bridges the language gap between English and Kannada speakers.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user-friendly, real-time voice translation solution.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practical use of speech recognition and translation technologies in real-world 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A425E-8667-4557-BD72-10FD8960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63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BC82-B801-46B5-8046-CCDF9C9F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62DC-B4DD-41E1-B0DB-762C45920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57318"/>
            <a:ext cx="9324232" cy="3416300"/>
          </a:xfrm>
        </p:spPr>
        <p:txBody>
          <a:bodyPr>
            <a:noAutofit/>
          </a:bodyPr>
          <a:lstStyle/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Sireesh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Haang</a:t>
            </a:r>
            <a:r>
              <a:rPr lang="en-I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Limbu, “Direct Speech to Speech Translation Using Machine Learning”, December 2020.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Sagar Patil, Mayuri </a:t>
            </a:r>
            <a:r>
              <a:rPr lang="en-IN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Phonde</a:t>
            </a:r>
            <a:r>
              <a:rPr lang="en-I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Siddharth Prajapati, “Multilingual Speech and Text Recognition and Translation using Image”, April 2020.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Venkateswarlu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 B. K. Kamesh, J. K. R. Sastry and Radhika Rani, “Text to Speech Conversion”, 23 September 2020</a:t>
            </a:r>
            <a:endParaRPr lang="en-IN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C1107-0A02-43DC-A69C-FF28926D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23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C6AD-D0CF-4FEA-A779-B61721064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89529"/>
            <a:ext cx="10515600" cy="88750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099A35-9695-4A6B-8CB9-B83669B3C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20" y="2475888"/>
            <a:ext cx="7620000" cy="3810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AFE6A-0953-4934-8658-B0E4CB08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8041-06C3-4A6A-9701-AEA0E210E176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756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1462</TotalTime>
  <Words>564</Words>
  <Application>Microsoft Office PowerPoint</Application>
  <PresentationFormat>Widescreen</PresentationFormat>
  <Paragraphs>101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Gothic</vt:lpstr>
      <vt:lpstr>Rockwell</vt:lpstr>
      <vt:lpstr>Times New Roman</vt:lpstr>
      <vt:lpstr>Wingdings</vt:lpstr>
      <vt:lpstr>Wingdings 3</vt:lpstr>
      <vt:lpstr>Ion Boardroom</vt:lpstr>
      <vt:lpstr> VISVESVARAYA  TECHNOLOGICAL UNIVERSITY –BELAGAVI </vt:lpstr>
      <vt:lpstr>Contents</vt:lpstr>
      <vt:lpstr>Introduction </vt:lpstr>
      <vt:lpstr>LITERATURE SURVEY</vt:lpstr>
      <vt:lpstr>System Requirements</vt:lpstr>
      <vt:lpstr>Algorithm</vt:lpstr>
      <vt:lpstr>Advantages and Limitations</vt:lpstr>
      <vt:lpstr>Applications </vt:lpstr>
      <vt:lpstr>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VISHVESHWARAYA  TECHNOLOGICAL UNIVERSITY –BELAGAVI ,KARNATAKA</dc:title>
  <dc:creator>Anusha Roogi</dc:creator>
  <cp:lastModifiedBy>Anandkumar. H.K</cp:lastModifiedBy>
  <cp:revision>108</cp:revision>
  <dcterms:created xsi:type="dcterms:W3CDTF">2022-05-17T02:30:31Z</dcterms:created>
  <dcterms:modified xsi:type="dcterms:W3CDTF">2025-01-03T14:25:12Z</dcterms:modified>
</cp:coreProperties>
</file>